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68" r:id="rId4"/>
    <p:sldId id="269" r:id="rId5"/>
    <p:sldId id="257" r:id="rId6"/>
    <p:sldId id="266" r:id="rId7"/>
    <p:sldId id="271" r:id="rId8"/>
    <p:sldId id="258" r:id="rId9"/>
    <p:sldId id="259" r:id="rId10"/>
    <p:sldId id="265" r:id="rId11"/>
    <p:sldId id="267" r:id="rId12"/>
    <p:sldId id="260" r:id="rId13"/>
    <p:sldId id="270" r:id="rId14"/>
    <p:sldId id="262" r:id="rId15"/>
    <p:sldId id="261" r:id="rId16"/>
    <p:sldId id="273" r:id="rId17"/>
    <p:sldId id="263" r:id="rId18"/>
    <p:sldId id="264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B3F91-4EC6-49ED-B2C0-7C896D2D029E}" v="97" dt="2026-06-04T04:23:29.451"/>
    <p1510:client id="{1AAFF843-8E1F-41E6-8EB6-58A8647DEE29}" v="1" dt="2026-06-04T03:56:38.746"/>
    <p1510:client id="{606AE44D-500A-43ED-89C0-F58B1D3F9582}" v="64" dt="2026-06-02T16:13:59.080"/>
    <p1510:client id="{6CD7FB63-6B95-4E06-AC4C-3CA9050FC2D7}" v="477" dt="2026-06-03T09:00:22.814"/>
    <p1510:client id="{75464130-BDF5-407B-9739-C86D2C9F742C}" v="1096" dt="2026-06-03T10:54:02.386"/>
    <p1510:client id="{8907384F-5945-4090-BF1B-BEED291A1606}" v="71" dt="2026-06-03T11:53:39.670"/>
    <p1510:client id="{9E145518-33A9-470B-9325-70F71DBF9359}" v="561" dt="2026-06-03T17:10:46.719"/>
    <p1510:client id="{A1A49529-DA3F-45E6-9459-A0F040D11727}" v="426" dt="2026-06-03T16:26:57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이상치 수 (행 기준)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F8-4513-8DA4-5CA0E4A08013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F8-4513-8DA4-5CA0E4A08013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F8-4513-8DA4-5CA0E4A080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ChatGPT</c:v>
                </c:pt>
                <c:pt idx="1">
                  <c:v>Claude</c:v>
                </c:pt>
                <c:pt idx="2">
                  <c:v>Gemini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21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F8-4513-8DA4-5CA0E4A080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D30A7-12F5-4505-AD32-F40B8253E461}" type="datetimeFigureOut"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9AFF4-3FB7-4F82-BA0C-237636095173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492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F8077-38D6-2A81-F1D5-DE720AA5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6894E-8F16-2EE1-D660-0DF6CECD4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2F82E-0A80-7310-8D75-CC438D321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79E1-54EE-3745-C45A-E960FD832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50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9FDD-8E10-E706-0906-1459B1CD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187E7-041F-B8D4-4035-88AA1A98E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A54EE-85BD-9462-6FCF-B0E77EA7A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483F7-2707-56E9-A42D-606991B8E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30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D8A8-9FE1-543B-DAB6-96B98798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69115-B828-1BD5-25EF-0F185D18A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4BC1F-87B7-4940-CA81-636E8A9A3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E7200-67A9-D29C-9052-703C7AFE2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28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3F4D-C4B4-AB45-845E-D5A8D343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5AFB6-7573-9613-F497-1E4374BE0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93726-7485-157B-269E-AAFA5AD31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3119A-299D-0AC3-2B7F-873E9B2D8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74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8FEF3-7AA5-41F4-908F-893FF422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F4379-EE61-0446-12F3-7AC8020C4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AFA12-A09E-613E-A9E5-1DE25A1DF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2DDCA-73A3-4C4F-4469-8D51AB26C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88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83D32-4C26-D4BF-298B-8C5F4763B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80A04-EF83-7DA8-1EEF-9A1D78EB5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F1AEA-38B8-7320-EC37-F3F6ED980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94AA0-F90B-357A-FAAB-72DD5CC63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96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3-31341-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48550/arXiv.2502.08177" TargetMode="External"/><Relationship Id="rId4" Type="http://schemas.openxmlformats.org/officeDocument/2006/relationships/hyperlink" Target="NUL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감성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프레임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변화에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따른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생성형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AI의</a:t>
            </a:r>
            <a:endParaRPr lang="en-US" sz="2800" dirty="0" err="1">
              <a:latin typeface="Arial"/>
              <a:cs typeface="Arial"/>
            </a:endParaRPr>
          </a:p>
          <a:p>
            <a:pPr marL="0" indent="0" algn="ctr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정책적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의사결정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일관성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비교</a:t>
            </a:r>
            <a:r>
              <a:rPr lang="en-US" sz="28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연구</a:t>
            </a:r>
            <a:endParaRPr lang="en-US" sz="2800" dirty="0" err="1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Study on the Consistency of Moral Decision-Making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Generative AI According to Emotional Frame Variation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200">
                <a:solidFill>
                  <a:srgbClr val="CADCFC"/>
                </a:solidFill>
                <a:latin typeface="Arial"/>
                <a:ea typeface="맑은 고딕"/>
                <a:cs typeface="Arial"/>
              </a:rPr>
              <a:t>과학기술글쓰기 2조</a:t>
            </a:r>
            <a:endParaRPr lang="en-US" sz="1200" dirty="0">
              <a:solidFill>
                <a:srgbClr val="CADCFC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08D0-48A6-CDB9-BF51-E60BCEAF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77594F8E-ECA5-DF3A-174C-B967D71E4184}"/>
              </a:ext>
            </a:extLst>
          </p:cNvPr>
          <p:cNvSpPr/>
          <p:nvPr/>
        </p:nvSpPr>
        <p:spPr>
          <a:xfrm>
            <a:off x="329764" y="896148"/>
            <a:ext cx="8428344" cy="4127592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7179308A-848C-6CF6-8A1E-B54373B0D68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BAE7C2A-74DD-4B54-3AD0-BC91DF8F5231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24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목차</a:t>
            </a:r>
            <a:endParaRPr lang="en-US" sz="2400" b="1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BD70C-5D7D-B355-5C56-63F8B9865453}"/>
              </a:ext>
            </a:extLst>
          </p:cNvPr>
          <p:cNvSpPr txBox="1"/>
          <p:nvPr/>
        </p:nvSpPr>
        <p:spPr>
          <a:xfrm>
            <a:off x="400202" y="1954737"/>
            <a:ext cx="227347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ko-KR" altLang="en-US" b="1">
                <a:latin typeface="맑은 고딕"/>
                <a:ea typeface="맑은 고딕"/>
                <a:cs typeface="Calibri" panose="020F0502020204030204"/>
              </a:rPr>
              <a:t>선행 연구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0AC5E-26D7-0738-0AB9-742144DD10E0}"/>
              </a:ext>
            </a:extLst>
          </p:cNvPr>
          <p:cNvSpPr txBox="1"/>
          <p:nvPr/>
        </p:nvSpPr>
        <p:spPr>
          <a:xfrm>
            <a:off x="3253787" y="1950823"/>
            <a:ext cx="23674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ko-KR" altLang="en-US" b="1">
                <a:latin typeface="맑은 고딕"/>
                <a:ea typeface="맑은 고딕"/>
                <a:cs typeface="Calibri" panose="020F0502020204030204"/>
              </a:rPr>
              <a:t>연구 동기 및 목적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A02A9-E234-F457-7E3D-4C2821353BC7}"/>
              </a:ext>
            </a:extLst>
          </p:cNvPr>
          <p:cNvSpPr txBox="1"/>
          <p:nvPr/>
        </p:nvSpPr>
        <p:spPr>
          <a:xfrm>
            <a:off x="6318749" y="1954737"/>
            <a:ext cx="23674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ko-KR" altLang="en-US" b="1">
                <a:latin typeface="맑은 고딕"/>
                <a:ea typeface="맑은 고딕"/>
                <a:cs typeface="Calibri" panose="020F0502020204030204"/>
              </a:rPr>
              <a:t>이론적 배경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A07E9-E1EA-E567-314F-0E62112DFDD8}"/>
              </a:ext>
            </a:extLst>
          </p:cNvPr>
          <p:cNvSpPr txBox="1"/>
          <p:nvPr/>
        </p:nvSpPr>
        <p:spPr>
          <a:xfrm>
            <a:off x="400202" y="3109480"/>
            <a:ext cx="227347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ko-KR" altLang="en-US" b="1">
                <a:latin typeface="맑은 고딕"/>
                <a:ea typeface="맑은 고딕"/>
                <a:cs typeface="Calibri" panose="020F0502020204030204"/>
              </a:rPr>
              <a:t>실험 설계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87A12-2686-45C9-AFB5-A9A9A387E2FA}"/>
              </a:ext>
            </a:extLst>
          </p:cNvPr>
          <p:cNvSpPr txBox="1"/>
          <p:nvPr/>
        </p:nvSpPr>
        <p:spPr>
          <a:xfrm>
            <a:off x="2889750" y="3109480"/>
            <a:ext cx="227347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ko-KR" altLang="en-US" b="1">
                <a:latin typeface="맑은 고딕"/>
                <a:ea typeface="맑은 고딕"/>
                <a:cs typeface="Calibri" panose="020F0502020204030204"/>
              </a:rPr>
              <a:t>실험 결과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DFF5C-7BCF-CEF3-CF31-D6FE2D6F225F}"/>
              </a:ext>
            </a:extLst>
          </p:cNvPr>
          <p:cNvSpPr txBox="1"/>
          <p:nvPr/>
        </p:nvSpPr>
        <p:spPr>
          <a:xfrm>
            <a:off x="6248290" y="3109480"/>
            <a:ext cx="2273474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ko-KR" altLang="en-US" b="1">
                <a:latin typeface="맑은 고딕"/>
                <a:ea typeface="맑은 고딕"/>
                <a:cs typeface="Calibri" panose="020F0502020204030204"/>
              </a:rPr>
              <a:t>연구 결론</a:t>
            </a:r>
          </a:p>
        </p:txBody>
      </p:sp>
    </p:spTree>
    <p:extLst>
      <p:ext uri="{BB962C8B-B14F-4D97-AF65-F5344CB8AC3E}">
        <p14:creationId xmlns:p14="http://schemas.microsoft.com/office/powerpoint/2010/main" val="250816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8C252DB7-29A3-6294-E4A7-38D873AFDD1A}"/>
              </a:ext>
            </a:extLst>
          </p:cNvPr>
          <p:cNvSpPr/>
          <p:nvPr/>
        </p:nvSpPr>
        <p:spPr>
          <a:xfrm>
            <a:off x="329764" y="896148"/>
            <a:ext cx="8428344" cy="4127592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1A669D8-B7E8-3BB8-B9E1-25CD55DD455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A22FC89-EC0F-A2A0-4ADE-FE84EC788D2C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2400" b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선행 연구 1</a:t>
            </a:r>
            <a:endParaRPr lang="en-US" sz="2400" b="1">
              <a:solidFill>
                <a:srgbClr val="1E2761"/>
              </a:solidFill>
              <a:latin typeface="Arial"/>
              <a:cs typeface="Arial"/>
            </a:endParaRPr>
          </a:p>
        </p:txBody>
      </p:sp>
      <p:pic>
        <p:nvPicPr>
          <p:cNvPr id="6" name="그림 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15E36A-6DB6-EEFC-3411-0C5DCFB27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3" y="1089953"/>
            <a:ext cx="3923732" cy="669065"/>
          </a:xfrm>
          <a:prstGeom prst="rect">
            <a:avLst/>
          </a:prstGeom>
        </p:spPr>
      </p:pic>
      <p:pic>
        <p:nvPicPr>
          <p:cNvPr id="16" name="그림 15" descr="텍스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23E339-597D-AB61-D326-9172C2C88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41" y="1919217"/>
            <a:ext cx="3559857" cy="2703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BA9775-FE6A-7B7F-BB4C-B453A7909702}"/>
              </a:ext>
            </a:extLst>
          </p:cNvPr>
          <p:cNvSpPr txBox="1"/>
          <p:nvPr/>
        </p:nvSpPr>
        <p:spPr>
          <a:xfrm>
            <a:off x="4261128" y="2030396"/>
            <a:ext cx="4497191" cy="22929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300" b="1">
                <a:ea typeface="맑은 고딕"/>
                <a:cs typeface="Calibri"/>
              </a:rPr>
              <a:t>피실험자를 두 그룹으로 나눔</a:t>
            </a:r>
            <a:endParaRPr lang="ko-KR" altLang="en-US" sz="1300" b="1" dirty="0">
              <a:ea typeface="맑은 고딕"/>
              <a:cs typeface="Calibri"/>
            </a:endParaRPr>
          </a:p>
          <a:p>
            <a:endParaRPr lang="ko-KR" altLang="en-US" sz="1300" b="1" dirty="0">
              <a:ea typeface="맑은 고딕"/>
              <a:cs typeface="Calibri"/>
            </a:endParaRPr>
          </a:p>
          <a:p>
            <a:r>
              <a:rPr lang="ko-KR" altLang="en-US" sz="1300" b="1" dirty="0">
                <a:ea typeface="맑은 고딕"/>
                <a:cs typeface="Calibri"/>
              </a:rPr>
              <a:t>트롤리 딜레마에 대한 AI의 찬성 / 반대 의견을 </a:t>
            </a:r>
            <a:r>
              <a:rPr lang="ko-KR" altLang="en-US" sz="1300" b="1">
                <a:ea typeface="맑은 고딕"/>
                <a:cs typeface="Calibri"/>
              </a:rPr>
              <a:t>제공하고 </a:t>
            </a:r>
            <a:r>
              <a:rPr lang="ko-KR" altLang="en-US" sz="1300" b="1" dirty="0">
                <a:ea typeface="맑은 고딕"/>
                <a:cs typeface="Calibri"/>
              </a:rPr>
              <a:t>해당 상황에서의 자신의 의견을 결정하는 실험</a:t>
            </a:r>
          </a:p>
          <a:p>
            <a:endParaRPr lang="ko-KR" altLang="en-US" sz="1300" b="1" dirty="0">
              <a:ea typeface="맑은 고딕"/>
              <a:cs typeface="Calibri"/>
            </a:endParaRPr>
          </a:p>
          <a:p>
            <a:r>
              <a:rPr lang="ko-KR" altLang="en-US" sz="1300" b="1">
                <a:ea typeface="맑은 고딕"/>
                <a:cs typeface="Calibri"/>
              </a:rPr>
              <a:t>AI의 답변을 각각 익명의 조언자, AI를 출처로 표기하여 제공</a:t>
            </a:r>
          </a:p>
          <a:p>
            <a:endParaRPr lang="ko-KR" altLang="en-US" sz="1300" b="1" dirty="0">
              <a:ea typeface="맑은 고딕"/>
              <a:cs typeface="Calibri"/>
            </a:endParaRPr>
          </a:p>
          <a:p>
            <a:r>
              <a:rPr lang="ko-KR" altLang="en-US" sz="1300" b="1">
                <a:ea typeface="맑은 고딕"/>
                <a:cs typeface="Calibri"/>
              </a:rPr>
              <a:t>조언의 출처가 AI라는 것을 아는 경우와 모르는 경우 모두 피실험자의 결정에 미치는 영향이 유사함을 확인함</a:t>
            </a:r>
            <a:endParaRPr lang="ko-KR" altLang="en-US" sz="1300" b="1" dirty="0">
              <a:ea typeface="맑은 고딕"/>
              <a:cs typeface="Calibri"/>
            </a:endParaRPr>
          </a:p>
          <a:p>
            <a:endParaRPr lang="ko-KR" altLang="en-US" sz="1300" b="1" dirty="0">
              <a:ea typeface="맑은 고딕"/>
              <a:cs typeface="Calibri"/>
            </a:endParaRPr>
          </a:p>
          <a:p>
            <a:r>
              <a:rPr lang="ko-KR" altLang="en-US" sz="1300" b="1">
                <a:ea typeface="맑은 고딕"/>
                <a:cs typeface="Calibri"/>
              </a:rPr>
              <a:t>  사용자의 판단은 AI의 답변에 영향을 받는다</a:t>
            </a:r>
            <a:endParaRPr lang="ko-KR" altLang="en-US" sz="1300" b="1" dirty="0">
              <a:ea typeface="맑은 고딕"/>
              <a:cs typeface="Calibri"/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07F1C59-018B-E5A2-3628-6776ED862B5E}"/>
              </a:ext>
            </a:extLst>
          </p:cNvPr>
          <p:cNvSpPr/>
          <p:nvPr/>
        </p:nvSpPr>
        <p:spPr>
          <a:xfrm>
            <a:off x="4262763" y="4041630"/>
            <a:ext cx="349723" cy="18765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898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FE8C-1600-93DF-9AD5-CCC7AAFB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699A0B3-B60D-80EF-991B-6A3A59C8CCC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969FA96-2374-28BD-6C87-DF03919EB7EF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2400" b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선행 연구 2</a:t>
            </a:r>
            <a:endParaRPr lang="en-US" sz="2400" b="1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6FEE99-5447-ED35-4205-87B03F659D64}"/>
              </a:ext>
            </a:extLst>
          </p:cNvPr>
          <p:cNvSpPr/>
          <p:nvPr/>
        </p:nvSpPr>
        <p:spPr>
          <a:xfrm>
            <a:off x="329764" y="896148"/>
            <a:ext cx="8428344" cy="4127592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E5B91C7-03E4-CE1E-CBED-3EA3C170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08" y="1130627"/>
            <a:ext cx="4068739" cy="566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40F79-3801-BFF4-7251-A44B9F726981}"/>
              </a:ext>
            </a:extLst>
          </p:cNvPr>
          <p:cNvSpPr txBox="1"/>
          <p:nvPr/>
        </p:nvSpPr>
        <p:spPr>
          <a:xfrm>
            <a:off x="461079" y="1825680"/>
            <a:ext cx="480000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300" b="1">
                <a:latin typeface="Malgun Gothic"/>
                <a:ea typeface="Malgun Gothic"/>
                <a:cs typeface="Calibri"/>
              </a:rPr>
              <a:t>LLM은 사용자의 반박에 얼마나 굴복하는가?</a:t>
            </a:r>
          </a:p>
          <a:p>
            <a:endParaRPr lang="ko-KR" altLang="en-US" sz="1300" b="1" dirty="0">
              <a:latin typeface="Malgun Gothic"/>
              <a:ea typeface="Malgun Gothic"/>
              <a:cs typeface="+mn-lt"/>
            </a:endParaRPr>
          </a:p>
          <a:p>
            <a:r>
              <a:rPr lang="ko-KR" sz="1300" b="1">
                <a:latin typeface="Malgun Gothic"/>
                <a:ea typeface="Malgun Gothic"/>
                <a:cs typeface="+mn-lt"/>
              </a:rPr>
              <a:t>실험: ChatGPT-4o, Claude-Sonnet, Gemini-1.5-Pro 대상</a:t>
            </a:r>
            <a:endParaRPr lang="ko-KR" b="1">
              <a:latin typeface="Malgun Gothic"/>
              <a:ea typeface="Malgun Gothic"/>
            </a:endParaRPr>
          </a:p>
          <a:p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r>
              <a:rPr lang="ko-KR" altLang="en-US" sz="1300" b="1" dirty="0">
                <a:latin typeface="Malgun Gothic"/>
                <a:ea typeface="Malgun Gothic"/>
                <a:cs typeface="Calibri"/>
              </a:rPr>
              <a:t>단순반박, 맥락 내 반박, 선제적 반박, 인용기반 반박 등 </a:t>
            </a:r>
            <a:r>
              <a:rPr lang="ko-KR" altLang="en-US" sz="1300" b="1">
                <a:latin typeface="Malgun Gothic"/>
                <a:ea typeface="Malgun Gothic"/>
                <a:cs typeface="Calibri"/>
              </a:rPr>
              <a:t>다양한 반박을 통해 AI의 답변을 반박</a:t>
            </a:r>
          </a:p>
          <a:p>
            <a:endParaRPr lang="ko-KR" altLang="en-US" sz="1300" b="1" dirty="0">
              <a:latin typeface="Malgun Gothic"/>
              <a:ea typeface="Malgun Gothic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ko-KR" sz="1300" b="1">
                <a:latin typeface="Malgun Gothic"/>
                <a:ea typeface="Malgun Gothic"/>
                <a:cs typeface="+mn-lt"/>
              </a:rPr>
              <a:t>전체 아첨 발생률 58.19% (Gemini 62.47%, Claude 59.38%, ChatGPT 56.71%)</a:t>
            </a:r>
            <a:endParaRPr lang="ko-KR" b="1"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r>
              <a:rPr lang="ko-KR" sz="1300" b="1">
                <a:latin typeface="Malgun Gothic"/>
                <a:ea typeface="Malgun Gothic"/>
                <a:cs typeface="+mn-lt"/>
              </a:rPr>
              <a:t>단순 반박 → 오류를 맞는 답으로 수정(전진적 아첨) 43.52%</a:t>
            </a:r>
            <a:endParaRPr lang="ko-KR" b="1"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r>
              <a:rPr lang="ko-KR" sz="1300" b="1">
                <a:latin typeface="Malgun Gothic"/>
                <a:ea typeface="Malgun Gothic"/>
                <a:cs typeface="+mn-lt"/>
              </a:rPr>
              <a:t>권위 기반 반박 → 맞는 답을 틀린 답으로 수정(후퇴적 아첨) 14.66</a:t>
            </a:r>
            <a:r>
              <a:rPr lang="en-US" altLang="ko-KR" sz="1300" b="1">
                <a:latin typeface="Malgun Gothic"/>
                <a:ea typeface="Malgun Gothic"/>
                <a:cs typeface="+mn-lt"/>
              </a:rPr>
              <a:t>%</a:t>
            </a:r>
            <a:endParaRPr lang="ko-KR" b="1">
              <a:latin typeface="Malgun Gothic"/>
              <a:ea typeface="Malgun Gothic"/>
            </a:endParaRPr>
          </a:p>
          <a:p>
            <a:endParaRPr lang="ko-KR" altLang="en-US" sz="1300" b="1" dirty="0">
              <a:latin typeface="Malgun Gothic"/>
              <a:ea typeface="Malgun Gothic"/>
              <a:cs typeface="+mn-lt"/>
            </a:endParaRPr>
          </a:p>
          <a:p>
            <a:endParaRPr lang="en-US" altLang="ko-KR" sz="1300" dirty="0">
              <a:ea typeface="Calibri"/>
              <a:cs typeface="Calibri"/>
            </a:endParaRPr>
          </a:p>
          <a:p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endParaRPr lang="ko-KR" altLang="en-US" sz="1300" b="1" dirty="0">
              <a:latin typeface="Malgun Gothic"/>
              <a:ea typeface="Malgun Gothic"/>
              <a:cs typeface="Calibri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2D3187-130F-EE0A-7A13-8D08D55EA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399" y="1053436"/>
            <a:ext cx="2844673" cy="38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7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연구</a:t>
            </a:r>
            <a:r>
              <a:rPr 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ko-KR" alt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동기</a:t>
            </a:r>
            <a:r>
              <a:rPr 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 및 </a:t>
            </a: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목적</a:t>
            </a:r>
            <a:endParaRPr lang="en-US" sz="2400" dirty="0" err="1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5790" y="1283913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의사결정의 확산</a:t>
            </a:r>
            <a:endParaRPr lang="en-US" sz="1300" b="1" dirty="0"/>
          </a:p>
        </p:txBody>
      </p:sp>
      <p:sp>
        <p:nvSpPr>
          <p:cNvPr id="7" name="Text 5"/>
          <p:cNvSpPr/>
          <p:nvPr/>
        </p:nvSpPr>
        <p:spPr>
          <a:xfrm>
            <a:off x="426279" y="1631385"/>
            <a:ext cx="2422221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의료·법률·금융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등 </a:t>
            </a:r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다양한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분야에서</a:t>
            </a:r>
            <a:endParaRPr lang="en-US" sz="1100" dirty="0" err="1">
              <a:latin typeface="Arial"/>
              <a:cs typeface="Arial"/>
            </a:endParaRPr>
          </a:p>
          <a:p>
            <a:pPr algn="ctr"/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LLM</a:t>
            </a:r>
            <a:r>
              <a:rPr lang="ko-KR" alt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을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사용하면서</a:t>
            </a:r>
            <a:r>
              <a:rPr lang="en-US" altLang="ko-KR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 AI</a:t>
            </a:r>
            <a:r>
              <a:rPr lang="ko-KR" alt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의 </a:t>
            </a:r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판단이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우리의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일상생활에 실질적인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영향을</a:t>
            </a: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미침</a:t>
            </a:r>
            <a:endParaRPr lang="en-US" sz="1100" dirty="0" err="1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828800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91870" y="1283913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표현에 따른 응답 변화</a:t>
            </a:r>
            <a:endParaRPr lang="en-US" sz="1300" b="1" dirty="0"/>
          </a:p>
        </p:txBody>
      </p:sp>
      <p:sp>
        <p:nvSpPr>
          <p:cNvPr id="11" name="Text 9"/>
          <p:cNvSpPr/>
          <p:nvPr/>
        </p:nvSpPr>
        <p:spPr>
          <a:xfrm>
            <a:off x="3191870" y="1631385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의미라도 어조·단어가 달라지면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다른 응답을 생성하는 경향 존재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828800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17950" y="1283913"/>
            <a:ext cx="27432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정보</a:t>
            </a:r>
            <a:r>
              <a:rPr 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격차</a:t>
            </a:r>
            <a:r>
              <a:rPr 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심화</a:t>
            </a:r>
            <a:r>
              <a:rPr 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가능성</a:t>
            </a:r>
            <a:endParaRPr lang="ko-KR" altLang="en-US" sz="1300" b="1" dirty="0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17950" y="1631385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작성 능력에 따라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품질이 달라질 위험성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0058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연구 질문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감성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프레임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(</a:t>
            </a:r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어조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)이 </a:t>
            </a:r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달라지면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ChatGPT·Claude·Gemini의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판단이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어떻게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달라지는가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?</a:t>
            </a:r>
            <a:endParaRPr lang="en-US"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EB014-9D6A-DEA6-CB35-BC3591B0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9CD9D624-2B75-0C30-F71F-47E4E37B320A}"/>
              </a:ext>
            </a:extLst>
          </p:cNvPr>
          <p:cNvSpPr/>
          <p:nvPr/>
        </p:nvSpPr>
        <p:spPr>
          <a:xfrm>
            <a:off x="134103" y="960731"/>
            <a:ext cx="4255718" cy="3591838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647C2E8-E444-4034-6E5D-4037FC21453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914A5C-B07D-E28D-B75B-8F0001910837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24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이론적 배경</a:t>
            </a:r>
            <a:endParaRPr lang="en-US" sz="2400" b="1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D0DB3D7-E567-9332-FF3B-314BC27D6B63}"/>
              </a:ext>
            </a:extLst>
          </p:cNvPr>
          <p:cNvSpPr/>
          <p:nvPr/>
        </p:nvSpPr>
        <p:spPr>
          <a:xfrm>
            <a:off x="932637" y="1075657"/>
            <a:ext cx="26517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5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감성 프레임, 감성 지수란?</a:t>
            </a:r>
            <a:endParaRPr lang="en-US" sz="1500" b="1" dirty="0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2FAB1DC-AF34-DC8A-1659-11B568EB8E0C}"/>
              </a:ext>
            </a:extLst>
          </p:cNvPr>
          <p:cNvSpPr/>
          <p:nvPr/>
        </p:nvSpPr>
        <p:spPr>
          <a:xfrm>
            <a:off x="454031" y="3032097"/>
            <a:ext cx="3595126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감성 지수 : 텍스트에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포함된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단어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문맥</a:t>
            </a:r>
            <a:r>
              <a:rPr lang="en-US" sz="1200" b="1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표현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등을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분석하여</a:t>
            </a:r>
            <a:r>
              <a:rPr lang="en-US" altLang="ko-KR" sz="12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ea typeface="+mn-lt"/>
                <a:cs typeface="+mn-lt"/>
              </a:rPr>
              <a:t>그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언어가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얼마나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긍정적이거나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부정적인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감정을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담고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있는지를</a:t>
            </a:r>
            <a:r>
              <a:rPr lang="en-US" altLang="ko-KR" sz="12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ea typeface="+mn-lt"/>
                <a:cs typeface="+mn-lt"/>
              </a:rPr>
              <a:t>수치화한</a:t>
            </a:r>
            <a:r>
              <a:rPr lang="en-US" altLang="ko-KR" sz="12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ea typeface="+mn-lt"/>
                <a:cs typeface="+mn-lt"/>
              </a:rPr>
              <a:t>것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ED9EC-D88C-ED87-4573-BCF091FE5071}"/>
              </a:ext>
            </a:extLst>
          </p:cNvPr>
          <p:cNvSpPr txBox="1"/>
          <p:nvPr/>
        </p:nvSpPr>
        <p:spPr>
          <a:xfrm>
            <a:off x="464876" y="1747860"/>
            <a:ext cx="35827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 dirty="0">
                <a:ea typeface="+mn-lt"/>
                <a:cs typeface="+mn-lt"/>
              </a:rPr>
              <a:t>언어의 감성 프레임 : 단어나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표현이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특정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감정이나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태도를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유발하도록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>
                <a:ea typeface="+mn-lt"/>
                <a:cs typeface="+mn-lt"/>
              </a:rPr>
              <a:t>짜인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인지적</a:t>
            </a:r>
            <a:r>
              <a:rPr lang="en-US" altLang="ko-KR" sz="1200" b="1" dirty="0">
                <a:ea typeface="+mn-lt"/>
                <a:cs typeface="+mn-lt"/>
              </a:rPr>
              <a:t> </a:t>
            </a:r>
            <a:r>
              <a:rPr lang="ko-KR" altLang="en-US" sz="1200" b="1" dirty="0">
                <a:ea typeface="+mn-lt"/>
                <a:cs typeface="+mn-lt"/>
              </a:rPr>
              <a:t>틀</a:t>
            </a:r>
            <a:endParaRPr lang="ko-KR" altLang="en-US" sz="1200" b="1" dirty="0"/>
          </a:p>
          <a:p>
            <a:endParaRPr lang="ko-KR" altLang="en-US" sz="1200" b="1" dirty="0">
              <a:cs typeface="Calibri"/>
            </a:endParaRPr>
          </a:p>
          <a:p>
            <a:r>
              <a:rPr lang="ko-KR" sz="1200">
                <a:ea typeface="+mn-lt"/>
                <a:cs typeface="+mn-lt"/>
              </a:rPr>
              <a:t>"</a:t>
            </a:r>
            <a:r>
              <a:rPr lang="ko-KR" sz="1100" b="1">
                <a:ea typeface="+mn-lt"/>
                <a:cs typeface="+mn-lt"/>
              </a:rPr>
              <a:t>절반이나 남은</a:t>
            </a:r>
            <a:r>
              <a:rPr lang="ko-KR" sz="1200">
                <a:ea typeface="+mn-lt"/>
                <a:cs typeface="+mn-lt"/>
              </a:rPr>
              <a:t> 물" vs "</a:t>
            </a:r>
            <a:r>
              <a:rPr lang="ko-KR" sz="1100" b="1">
                <a:ea typeface="+mn-lt"/>
                <a:cs typeface="+mn-lt"/>
              </a:rPr>
              <a:t>절반밖에 없는</a:t>
            </a:r>
            <a:r>
              <a:rPr lang="ko-KR" sz="1200">
                <a:ea typeface="+mn-lt"/>
                <a:cs typeface="+mn-lt"/>
              </a:rPr>
              <a:t> 물"</a:t>
            </a:r>
            <a:endParaRPr lang="ko-KR">
              <a:ea typeface="+mn-lt"/>
              <a:cs typeface="+mn-lt"/>
            </a:endParaRPr>
          </a:p>
          <a:p>
            <a:pPr algn="ctr"/>
            <a:endParaRPr lang="ko-KR" altLang="en-US" sz="1200" b="1">
              <a:cs typeface="Calibri" panose="020F0502020204030204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086E361-F088-20FA-5798-7FCCD63B75C2}"/>
              </a:ext>
            </a:extLst>
          </p:cNvPr>
          <p:cNvSpPr/>
          <p:nvPr/>
        </p:nvSpPr>
        <p:spPr>
          <a:xfrm>
            <a:off x="4772647" y="968560"/>
            <a:ext cx="4255718" cy="3599667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3695EDCF-5A9A-C965-EF1B-A425B64B0E1A}"/>
              </a:ext>
            </a:extLst>
          </p:cNvPr>
          <p:cNvSpPr/>
          <p:nvPr/>
        </p:nvSpPr>
        <p:spPr>
          <a:xfrm>
            <a:off x="5571181" y="1075657"/>
            <a:ext cx="26517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15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VADER란?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1314F0-FB7C-4319-0D50-85C3FE2EC528}"/>
              </a:ext>
            </a:extLst>
          </p:cNvPr>
          <p:cNvSpPr txBox="1"/>
          <p:nvPr/>
        </p:nvSpPr>
        <p:spPr>
          <a:xfrm>
            <a:off x="5111249" y="1747860"/>
            <a:ext cx="358277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b="1">
                <a:ea typeface="맑은 고딕"/>
                <a:cs typeface="Calibri"/>
              </a:rPr>
              <a:t>감성 지수를 측정하기 위한 기법</a:t>
            </a:r>
            <a:endParaRPr lang="ko-KR" altLang="en-US" sz="1200" b="1" dirty="0">
              <a:cs typeface="Calibri"/>
            </a:endParaRPr>
          </a:p>
        </p:txBody>
      </p:sp>
      <p:pic>
        <p:nvPicPr>
          <p:cNvPr id="16" name="그림 15" descr="텍스트, 포스터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55598D-FBCA-6315-9B67-38A70B645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984" y="2171839"/>
            <a:ext cx="3345549" cy="195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8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45C10-4A76-3ECB-A689-450258A9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2">
            <a:extLst>
              <a:ext uri="{FF2B5EF4-FFF2-40B4-BE49-F238E27FC236}">
                <a16:creationId xmlns:a16="http://schemas.microsoft.com/office/drawing/2014/main" id="{333A2408-31E9-82F8-6427-C338C87EC5D5}"/>
              </a:ext>
            </a:extLst>
          </p:cNvPr>
          <p:cNvSpPr/>
          <p:nvPr/>
        </p:nvSpPr>
        <p:spPr>
          <a:xfrm>
            <a:off x="141230" y="933973"/>
            <a:ext cx="8733773" cy="395979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F3B2F48-8925-341B-9FA3-A7938ED662A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0D4805-AA09-A6B4-6BE9-91A905A7A8A1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CE620E-1743-5E3A-E9FD-70F1C8A5083F}"/>
              </a:ext>
            </a:extLst>
          </p:cNvPr>
          <p:cNvSpPr/>
          <p:nvPr/>
        </p:nvSpPr>
        <p:spPr>
          <a:xfrm>
            <a:off x="45720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구조</a:t>
            </a:r>
            <a:endParaRPr lang="en-US" sz="13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51C24ACD-6580-1C87-C4FD-7DC1CCD00BB4}"/>
              </a:ext>
            </a:extLst>
          </p:cNvPr>
          <p:cNvSpPr/>
          <p:nvPr/>
        </p:nvSpPr>
        <p:spPr>
          <a:xfrm>
            <a:off x="456939" y="14627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D881E13E-9A4C-B726-E954-F06144C3FD38}"/>
              </a:ext>
            </a:extLst>
          </p:cNvPr>
          <p:cNvSpPr/>
          <p:nvPr/>
        </p:nvSpPr>
        <p:spPr>
          <a:xfrm>
            <a:off x="458922" y="152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상황</a:t>
            </a:r>
            <a:endParaRPr lang="en-US" sz="1200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6EC393B5-008F-7C23-1CC2-6EC1F281BFB6}"/>
              </a:ext>
            </a:extLst>
          </p:cNvPr>
          <p:cNvSpPr/>
          <p:nvPr/>
        </p:nvSpPr>
        <p:spPr>
          <a:xfrm>
            <a:off x="455006" y="2173110"/>
            <a:ext cx="3567256" cy="21192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>
                <a:solidFill>
                  <a:srgbClr val="64748B"/>
                </a:solidFill>
                <a:ea typeface="+mn-lt"/>
                <a:cs typeface="+mn-lt"/>
              </a:rPr>
              <a:t>토지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용도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결정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>
                <a:solidFill>
                  <a:srgbClr val="64748B"/>
                </a:solidFill>
                <a:ea typeface="+mn-lt"/>
                <a:cs typeface="+mn-lt"/>
              </a:rPr>
              <a:t>데이터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저장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아키텍처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직원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64748B"/>
                </a:solidFill>
                <a:ea typeface="+mn-lt"/>
                <a:cs typeface="+mn-lt"/>
              </a:rPr>
              <a:t>보상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체계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>
                <a:solidFill>
                  <a:srgbClr val="64748B"/>
                </a:solidFill>
                <a:ea typeface="+mn-lt"/>
                <a:cs typeface="+mn-lt"/>
              </a:rPr>
              <a:t>전력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생산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방식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농업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생산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방식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교통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인프라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학생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평가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방식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고객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지원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조직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장치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업그레이드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방식</a:t>
            </a:r>
            <a:endParaRPr lang="ko-KR" altLang="en-US" sz="1200">
              <a:solidFill>
                <a:srgbClr val="000000"/>
              </a:solidFill>
              <a:ea typeface="맑은 고딕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>
                <a:solidFill>
                  <a:srgbClr val="64748B"/>
                </a:solidFill>
                <a:ea typeface="+mn-lt"/>
                <a:cs typeface="+mn-lt"/>
              </a:rPr>
              <a:t>자본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투자</a:t>
            </a:r>
            <a:r>
              <a:rPr lang="en-US" sz="1200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ea typeface="+mn-lt"/>
                <a:cs typeface="+mn-lt"/>
              </a:rPr>
              <a:t>방식</a:t>
            </a:r>
            <a:endParaRPr lang="ko-KR" altLang="en-US" sz="1200">
              <a:ea typeface="맑은 고딕"/>
              <a:cs typeface="Calibri"/>
            </a:endParaRPr>
          </a:p>
        </p:txBody>
      </p:sp>
      <p:pic>
        <p:nvPicPr>
          <p:cNvPr id="52" name="그림 51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B3E506-59F9-BBC2-F91A-3D2C5B2CAD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" b="-308"/>
          <a:stretch>
            <a:fillRect/>
          </a:stretch>
        </p:blipFill>
        <p:spPr>
          <a:xfrm>
            <a:off x="3846079" y="1045011"/>
            <a:ext cx="4614662" cy="1088472"/>
          </a:xfrm>
          <a:prstGeom prst="rect">
            <a:avLst/>
          </a:prstGeom>
        </p:spPr>
      </p:pic>
      <p:pic>
        <p:nvPicPr>
          <p:cNvPr id="55" name="그림 5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80DBCD-34ED-8323-7D33-12D89F7C4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925" y="2174980"/>
            <a:ext cx="4611145" cy="1916968"/>
          </a:xfrm>
          <a:prstGeom prst="rect">
            <a:avLst/>
          </a:prstGeom>
        </p:spPr>
      </p:pic>
      <p:pic>
        <p:nvPicPr>
          <p:cNvPr id="56" name="그림 55" descr="텍스트, 폰트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7FA9AF-912F-FCB6-D07D-819146269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839" y="4161849"/>
            <a:ext cx="4611145" cy="2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8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83276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상황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토지·데이터·보상·전력 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5개 </a:t>
            </a:r>
            <a:r>
              <a:rPr lang="en-US" sz="1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감성</a:t>
            </a:r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구간</a:t>
            </a:r>
            <a:endParaRPr lang="en-US" sz="1200" dirty="0" err="1"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350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-1.0 / -0.5 / 0.0 / +0.5 / +1.0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34056"/>
            <a:ext cx="3383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50개 </a:t>
            </a:r>
            <a:r>
              <a:rPr lang="en-US" sz="1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프롬프트</a:t>
            </a:r>
            <a:endParaRPr lang="en-US" sz="1200" dirty="0" err="1">
              <a:latin typeface="Arial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3008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VADER로 감성 강도 통제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4</a:t>
            </a:r>
            <a:endParaRPr lang="ko-KR" altLang="en-US" sz="1000"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3924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AI 모델 실험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6667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Claude · Gemini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06240" cy="3517465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구간 (VADER compound)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5486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463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강한 반대 유도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16733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"끔찍하고 재앙적인..."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993392"/>
            <a:ext cx="5486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993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993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약한 반대 유도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2037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"다소 실망스러운..."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523744"/>
            <a:ext cx="5486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5237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5237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중립 (기준선)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7340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"두 가지 선택지 중 하나..."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054096"/>
            <a:ext cx="5486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540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30540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약한 찬성 유도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2644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"합리적으로 긍정적인..."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584448"/>
            <a:ext cx="5486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5844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3584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강한 찬성 유도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37947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"탁월하고 완벽한..."</a:t>
            </a:r>
            <a:endParaRPr lang="en-US" sz="9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EAE3D02D-BBB2-7F27-25B5-44D65A0E722B}"/>
              </a:ext>
            </a:extLst>
          </p:cNvPr>
          <p:cNvSpPr/>
          <p:nvPr/>
        </p:nvSpPr>
        <p:spPr>
          <a:xfrm>
            <a:off x="457200" y="39039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4248B70E-C30E-897B-3C1E-FD501A841B5C}"/>
              </a:ext>
            </a:extLst>
          </p:cNvPr>
          <p:cNvSpPr/>
          <p:nvPr/>
        </p:nvSpPr>
        <p:spPr>
          <a:xfrm>
            <a:off x="457200" y="4162305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066FBC25-1EA9-EC05-4DB0-44E155394E0C}"/>
              </a:ext>
            </a:extLst>
          </p:cNvPr>
          <p:cNvSpPr/>
          <p:nvPr/>
        </p:nvSpPr>
        <p:spPr>
          <a:xfrm>
            <a:off x="457200" y="41701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altLang="ko-KR" sz="1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9732FA0B-1CA6-EDC2-F2FA-2056484B585B}"/>
              </a:ext>
            </a:extLst>
          </p:cNvPr>
          <p:cNvSpPr/>
          <p:nvPr/>
        </p:nvSpPr>
        <p:spPr>
          <a:xfrm>
            <a:off x="822960" y="4147900"/>
            <a:ext cx="3383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200" b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게스트 계정으로 실험 진행</a:t>
            </a:r>
            <a:endParaRPr lang="en-US" sz="1200" b="1">
              <a:solidFill>
                <a:srgbClr val="1E276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설계: 실험 1 vs 실험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20040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횟수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응답 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9842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150개 (3모델 × 50문항)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tolerance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4597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지시문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21031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0.0 </a:t>
            </a:r>
            <a:r>
              <a:rPr lang="en-US" sz="11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앵커</a:t>
            </a:r>
            <a:endParaRPr lang="en-US" sz="1100" dirty="0" err="1">
              <a:solidFill>
                <a:srgbClr val="64748B"/>
              </a:solidFill>
              <a:latin typeface="Arial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문장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4107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023360" cy="3200400"/>
          </a:xfrm>
          <a:prstGeom prst="rect">
            <a:avLst/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실험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2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횟수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1984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응답 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19842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450개 (3모델 × 50문항 × 3회)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 tolerance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4597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 (강화)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9352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지시문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9352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앵커 제거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4107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문장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410712"/>
            <a:ext cx="21031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12개 </a:t>
            </a:r>
            <a:r>
              <a:rPr lang="en-US" sz="1100" b="1" dirty="0" err="1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교체</a:t>
            </a:r>
            <a:r>
              <a:rPr lang="en-US" sz="1100" b="1" dirty="0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 (tolerance </a:t>
            </a:r>
            <a:r>
              <a:rPr lang="en-US" sz="1100" b="1" dirty="0" err="1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강화</a:t>
            </a:r>
            <a:r>
              <a:rPr lang="en-US" sz="1100" b="1" dirty="0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dirty="0" err="1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반영</a:t>
            </a:r>
            <a:r>
              <a:rPr lang="en-US" sz="1100" b="1" dirty="0">
                <a:solidFill>
                  <a:srgbClr val="10B981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B4CE2-F771-E69E-8E46-8E0DC67E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1">
            <a:extLst>
              <a:ext uri="{FF2B5EF4-FFF2-40B4-BE49-F238E27FC236}">
                <a16:creationId xmlns:a16="http://schemas.microsoft.com/office/drawing/2014/main" id="{52913CEC-3A99-3A78-C826-4598EFBF5D66}"/>
              </a:ext>
            </a:extLst>
          </p:cNvPr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1 결과: 구간별 응답 분포</a:t>
            </a:r>
            <a:endParaRPr lang="en-US" sz="2200" dirty="0"/>
          </a:p>
        </p:txBody>
      </p:sp>
      <p:pic>
        <p:nvPicPr>
          <p:cNvPr id="2" name="그림 1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EDD5-796A-2C4A-7ACB-1FA6E0B1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936"/>
            <a:ext cx="9144000" cy="3252881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B1116AEF-453F-DB60-20C9-74FBC28F6B4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1450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334B0-D5E0-A5DF-8E33-99EB3AFC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B9FD2F-7EF8-7276-2303-85B32A00E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936"/>
            <a:ext cx="9144000" cy="32528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2C52F0F6-BE59-88AD-4C04-AC3040F579A3}"/>
              </a:ext>
            </a:extLst>
          </p:cNvPr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실험</a:t>
            </a:r>
            <a:r>
              <a:rPr lang="en-US" sz="2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 2 </a:t>
            </a:r>
            <a:r>
              <a:rPr lang="en-US" sz="2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결과</a:t>
            </a:r>
            <a:r>
              <a:rPr lang="en-US" sz="2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2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구간별</a:t>
            </a:r>
            <a:r>
              <a:rPr lang="en-US" sz="2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응답</a:t>
            </a:r>
            <a:r>
              <a:rPr lang="en-US" sz="22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2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분포</a:t>
            </a:r>
            <a:endParaRPr lang="en-US" sz="2200" dirty="0" err="1">
              <a:latin typeface="Arial"/>
              <a:cs typeface="Arial"/>
            </a:endParaRPr>
          </a:p>
        </p:txBody>
      </p:sp>
      <p:pic>
        <p:nvPicPr>
          <p:cNvPr id="3" name="그림 2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CCB42E-F459-7CDA-DF58-868F3BB460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7" b="131"/>
          <a:stretch>
            <a:fillRect/>
          </a:stretch>
        </p:blipFill>
        <p:spPr>
          <a:xfrm>
            <a:off x="-4265" y="861445"/>
            <a:ext cx="9148266" cy="3262793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236D10F6-F146-54B7-0879-DADA2C2CD60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8353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구간별 평균 응답 점수</a:t>
            </a:r>
            <a:endParaRPr lang="en-US" sz="2400">
              <a:latin typeface="Arial"/>
              <a:cs typeface="Arial"/>
            </a:endParaRPr>
          </a:p>
        </p:txBody>
      </p:sp>
      <p:pic>
        <p:nvPicPr>
          <p:cNvPr id="4" name="그림 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072B9E-7813-D990-D85F-43D04ECA0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23" y="1702757"/>
            <a:ext cx="4135156" cy="26265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77DEB0-8135-FBFC-41BD-7B209698C85A}"/>
              </a:ext>
            </a:extLst>
          </p:cNvPr>
          <p:cNvSpPr txBox="1"/>
          <p:nvPr/>
        </p:nvSpPr>
        <p:spPr>
          <a:xfrm>
            <a:off x="912928" y="1284093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>
                <a:ea typeface="맑은 고딕"/>
                <a:cs typeface="Calibri"/>
              </a:rPr>
              <a:t>실험 1</a:t>
            </a:r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EEF9C6-76E6-3EBF-3082-0E1A9A9EE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924" y="1647956"/>
            <a:ext cx="4229603" cy="27400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9A0BA0-B7D3-E92D-9F2F-33A3AF995069}"/>
              </a:ext>
            </a:extLst>
          </p:cNvPr>
          <p:cNvSpPr txBox="1"/>
          <p:nvPr/>
        </p:nvSpPr>
        <p:spPr>
          <a:xfrm>
            <a:off x="5484928" y="1284093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>
                <a:ea typeface="맑은 고딕"/>
                <a:cs typeface="Calibri"/>
              </a:rPr>
              <a:t>실험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4A702-4117-A6EE-1D65-0280878A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22C0C3-74D0-61CD-F604-34A311B6ECD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4F7090-C229-AFBB-AF20-B571FA69794A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구간별</a:t>
            </a:r>
            <a:r>
              <a:rPr 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평균</a:t>
            </a:r>
            <a:r>
              <a:rPr 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응답</a:t>
            </a:r>
            <a:r>
              <a:rPr 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점수</a:t>
            </a:r>
            <a:endParaRPr lang="en-US" sz="2400" dirty="0" err="1">
              <a:latin typeface="Arial"/>
              <a:cs typeface="Arial"/>
            </a:endParaRPr>
          </a:p>
        </p:txBody>
      </p: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32823A-1C60-1525-55EA-68618D23E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823" y="1856726"/>
            <a:ext cx="4082471" cy="2563922"/>
          </a:xfrm>
          <a:prstGeom prst="rect">
            <a:avLst/>
          </a:prstGeom>
        </p:spPr>
      </p:pic>
      <p:pic>
        <p:nvPicPr>
          <p:cNvPr id="6" name="그림 5" descr="텍스트, 스크린샷, 직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3CCF3F-6BD9-EAA5-2931-737E768F4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98" y="1826614"/>
            <a:ext cx="4087400" cy="2595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79866-87C0-D677-1CCC-2C5DAA37D75A}"/>
              </a:ext>
            </a:extLst>
          </p:cNvPr>
          <p:cNvSpPr txBox="1"/>
          <p:nvPr/>
        </p:nvSpPr>
        <p:spPr>
          <a:xfrm>
            <a:off x="912928" y="1284093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>
                <a:ea typeface="맑은 고딕"/>
                <a:cs typeface="Calibri"/>
              </a:rPr>
              <a:t>실험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496BEB-36A7-A259-E1FF-1C85A7AD1A6B}"/>
              </a:ext>
            </a:extLst>
          </p:cNvPr>
          <p:cNvSpPr txBox="1"/>
          <p:nvPr/>
        </p:nvSpPr>
        <p:spPr>
          <a:xfrm>
            <a:off x="5484928" y="1284093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>
                <a:ea typeface="맑은 고딕"/>
                <a:cs typeface="Calibri"/>
              </a:rPr>
              <a:t>실험 2</a:t>
            </a:r>
          </a:p>
        </p:txBody>
      </p:sp>
    </p:spTree>
    <p:extLst>
      <p:ext uri="{BB962C8B-B14F-4D97-AF65-F5344CB8AC3E}">
        <p14:creationId xmlns:p14="http://schemas.microsoft.com/office/powerpoint/2010/main" val="1283195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이상치</a:t>
            </a:r>
            <a:r>
              <a:rPr lang="en-US" sz="24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분석</a:t>
            </a:r>
            <a:endParaRPr lang="en-US" sz="2400" b="1" dirty="0" err="1">
              <a:solidFill>
                <a:srgbClr val="1E2761"/>
              </a:solidFill>
              <a:latin typeface="Arial"/>
              <a:cs typeface="Arial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26316342"/>
              </p:ext>
            </p:extLst>
          </p:nvPr>
        </p:nvGraphicFramePr>
        <p:xfrm>
          <a:off x="2392060" y="1284332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24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연구 결론</a:t>
            </a:r>
            <a:endParaRPr lang="en-US" sz="2400" b="1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834640" cy="338328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Gemini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2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감성 수식어에 대한 의존성이 높음</a:t>
            </a:r>
            <a:endParaRPr lang="en-US" altLang="ko-KR" sz="1200" b="1">
              <a:solidFill>
                <a:srgbClr val="1E2761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265176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target-score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상관계수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0.986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65176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-1.0 · 0.0 · +1.0 </a:t>
            </a:r>
            <a:r>
              <a:rPr lang="ko-KR" alt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에서의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 </a:t>
            </a:r>
            <a:br>
              <a:rPr lang="en-US" sz="1000" dirty="0">
                <a:latin typeface="Arial"/>
                <a:ea typeface="Arial" pitchFamily="34" charset="-122"/>
                <a:cs typeface="Arial"/>
              </a:rPr>
            </a:b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구간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표준편차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= 0.0 (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완전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일관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000">
              <a:latin typeface="Arial"/>
              <a:ea typeface="Calibri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이상치 4개 — 3개 모델 중 가장 적음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8632" y="3237916"/>
            <a:ext cx="2863136" cy="244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buSzPct val="100000"/>
            </a:pPr>
            <a:r>
              <a:rPr lang="en-US" sz="1100" b="1" dirty="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감성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수식어를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점수로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직접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변환하는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경향</a:t>
            </a:r>
            <a:endParaRPr lang="en-US" sz="1100" b="1" dirty="0" err="1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834640" cy="338328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14400"/>
            <a:ext cx="283464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914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ChatGPT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주제별 자체 판단 개입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273818"/>
            <a:ext cx="265176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target-score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상관계수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0.843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240280"/>
            <a:ext cx="265176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buSzPct val="100000"/>
            </a:pPr>
            <a:endParaRPr lang="en-US" sz="1000" dirty="0">
              <a:solidFill>
                <a:srgbClr val="64748B"/>
              </a:solidFill>
              <a:latin typeface="Arial"/>
              <a:cs typeface="Arial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834640" cy="338328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8346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914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Claude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훈련 특성 반영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901952"/>
            <a:ext cx="265176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target-score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상관계수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0.604 —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가장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낮음</a:t>
            </a:r>
            <a:endParaRPr lang="en-US" sz="1000" dirty="0" err="1">
              <a:latin typeface="Arial"/>
              <a:cs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2271534"/>
            <a:ext cx="265176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극단적인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수식어에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저항하는</a:t>
            </a:r>
            <a:r>
              <a:rPr lang="en-US" sz="100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경향</a:t>
            </a:r>
            <a:endParaRPr lang="en-US" sz="1000" dirty="0" err="1">
              <a:latin typeface="Arial"/>
              <a:cs typeface="Arial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2648246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이상치 21개 — 3개 모델 중 가장 많음</a:t>
            </a:r>
            <a:endParaRPr lang="en-US" sz="10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78F7384D-99FC-0FB3-6FA3-F6D167EC97C3}"/>
              </a:ext>
            </a:extLst>
          </p:cNvPr>
          <p:cNvSpPr/>
          <p:nvPr/>
        </p:nvSpPr>
        <p:spPr>
          <a:xfrm>
            <a:off x="3123991" y="3237916"/>
            <a:ext cx="2863136" cy="244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0.0</a:t>
            </a:r>
            <a:r>
              <a:rPr lang="ko-KR" alt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인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ko-KR" altLang="en-US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프롬프트와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특정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주제와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ko-KR" altLang="en-US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관련된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ko-KR" alt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질문에서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 </a:t>
            </a:r>
            <a:r>
              <a:rPr lang="ko-KR" alt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자체적인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ko-KR" alt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판단을</a:t>
            </a:r>
            <a:r>
              <a:rPr lang="en-US" altLang="ko-KR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ko-KR" alt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하는</a:t>
            </a:r>
            <a:r>
              <a:rPr lang="en-US" altLang="ko-KR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ko-KR" altLang="ko-KR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경향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​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52F4B85-08AF-F971-6B5F-4CE828BD77D2}"/>
              </a:ext>
            </a:extLst>
          </p:cNvPr>
          <p:cNvSpPr/>
          <p:nvPr/>
        </p:nvSpPr>
        <p:spPr>
          <a:xfrm>
            <a:off x="6095008" y="3237916"/>
            <a:ext cx="2863136" cy="244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buSzPct val="100000"/>
            </a:pPr>
            <a:r>
              <a:rPr lang="ko-KR" altLang="en-US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가장</a:t>
            </a:r>
            <a:r>
              <a:rPr lang="en-US" altLang="ko-KR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 </a:t>
            </a:r>
            <a:r>
              <a:rPr lang="en-US" altLang="ko-KR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자체적으로</a:t>
            </a:r>
            <a:r>
              <a:rPr lang="en-US" altLang="ko-KR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altLang="ko-KR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판단하는</a:t>
            </a:r>
            <a:r>
              <a:rPr lang="en-US" altLang="ko-KR" sz="1100" b="1" dirty="0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altLang="ko-KR" sz="1100" b="1" dirty="0" err="1">
                <a:solidFill>
                  <a:srgbClr val="000000"/>
                </a:solidFill>
                <a:latin typeface="Arial"/>
                <a:ea typeface="Calibri" panose="020F0502020204030204"/>
                <a:cs typeface="Arial"/>
              </a:rPr>
              <a:t>경향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A3F7-9F09-AF10-BF66-D35079EF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49B2431-7A85-EF24-9E76-BAB9A8505D1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B812BD6-53AE-A3CC-4FF6-36A6670B87D3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2400" b="1">
                <a:solidFill>
                  <a:srgbClr val="1E2761"/>
                </a:solidFill>
                <a:latin typeface="Arial"/>
                <a:ea typeface="맑은 고딕"/>
                <a:cs typeface="Arial"/>
              </a:rPr>
              <a:t>선행 연구와의 차이점</a:t>
            </a:r>
            <a:endParaRPr lang="ko-KR" altLang="en-US" sz="2400" b="1" dirty="0">
              <a:solidFill>
                <a:srgbClr val="1E2761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21CAB3-B466-A9F5-95B4-E13E37B168C4}"/>
              </a:ext>
            </a:extLst>
          </p:cNvPr>
          <p:cNvSpPr/>
          <p:nvPr/>
        </p:nvSpPr>
        <p:spPr>
          <a:xfrm>
            <a:off x="329764" y="896148"/>
            <a:ext cx="4110779" cy="4127592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49CA702D-DBEC-F753-522F-FBB491F9722C}"/>
              </a:ext>
            </a:extLst>
          </p:cNvPr>
          <p:cNvSpPr/>
          <p:nvPr/>
        </p:nvSpPr>
        <p:spPr>
          <a:xfrm>
            <a:off x="4686473" y="884405"/>
            <a:ext cx="4110779" cy="4127592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7A518-7D32-1F27-6C65-4D9F91D75AC2}"/>
              </a:ext>
            </a:extLst>
          </p:cNvPr>
          <p:cNvSpPr txBox="1"/>
          <p:nvPr/>
        </p:nvSpPr>
        <p:spPr>
          <a:xfrm>
            <a:off x="1838942" y="1042803"/>
            <a:ext cx="1089167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300" b="1">
                <a:latin typeface="Malgun Gothic"/>
                <a:ea typeface="Malgun Gothic"/>
                <a:cs typeface="Calibri"/>
              </a:rPr>
              <a:t>선행 연구 1</a:t>
            </a:r>
            <a:endParaRPr lang="ko-KR" altLang="en-US" sz="1300" b="1" dirty="0">
              <a:latin typeface="Malgun Gothic"/>
              <a:ea typeface="Malgun Gothic"/>
              <a:cs typeface="+mn-lt"/>
            </a:endParaRPr>
          </a:p>
          <a:p>
            <a:pPr algn="ctr"/>
            <a:endParaRPr lang="en-US" altLang="ko-KR" sz="1300" dirty="0">
              <a:ea typeface="Calibri"/>
              <a:cs typeface="Calibri"/>
            </a:endParaRPr>
          </a:p>
          <a:p>
            <a:pPr algn="ctr"/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pPr algn="ctr"/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pPr algn="ctr"/>
            <a:endParaRPr lang="ko-KR" altLang="en-US" sz="13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69C67-78E1-9129-27D0-44FC72B289CD}"/>
              </a:ext>
            </a:extLst>
          </p:cNvPr>
          <p:cNvSpPr txBox="1"/>
          <p:nvPr/>
        </p:nvSpPr>
        <p:spPr>
          <a:xfrm>
            <a:off x="457163" y="1512528"/>
            <a:ext cx="3895780" cy="953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+mn-lt"/>
              </a:rPr>
              <a:t>AI 조언을 받은 사용자에 대한 연구를 진행</a:t>
            </a:r>
            <a:endParaRPr lang="ko-KR"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+mn-lt"/>
              </a:rPr>
              <a:t>찬성</a:t>
            </a:r>
            <a:r>
              <a:rPr lang="ko-KR" altLang="en-US" sz="1300" b="1">
                <a:latin typeface="Malgun Gothic"/>
                <a:ea typeface="Malgun Gothic"/>
                <a:cs typeface="Calibri"/>
              </a:rPr>
              <a:t> / 반대 두 개의 답변으로 나누어서 실험을 진행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0BA40B03-08E0-2AD5-BAEF-CE5530F298E6}"/>
              </a:ext>
            </a:extLst>
          </p:cNvPr>
          <p:cNvSpPr/>
          <p:nvPr/>
        </p:nvSpPr>
        <p:spPr>
          <a:xfrm>
            <a:off x="2164362" y="2573503"/>
            <a:ext cx="435022" cy="63973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86811-20ED-93C3-6BEA-6B5A70F71C1C}"/>
              </a:ext>
            </a:extLst>
          </p:cNvPr>
          <p:cNvSpPr txBox="1"/>
          <p:nvPr/>
        </p:nvSpPr>
        <p:spPr>
          <a:xfrm>
            <a:off x="457163" y="3379689"/>
            <a:ext cx="3895780" cy="12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Calibri"/>
              </a:rPr>
              <a:t>질문 프롬프트를 AI에게 제공함으로써 AI의 답변 일관성을 살펴봄</a:t>
            </a:r>
            <a:endParaRPr lang="ko-KR" altLang="en-US" sz="1300" b="1" dirty="0">
              <a:latin typeface="Malgun Gothic"/>
              <a:ea typeface="Malgun Gothic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Calibri"/>
              </a:rPr>
              <a:t>감성 지수를 통해 -1~1까지 답변을 수치화함으로써 체계적으로 결과를 분석함</a:t>
            </a:r>
            <a:endParaRPr lang="ko-KR" altLang="en-US" sz="13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FD0CDE-73B5-9B66-4887-6E94FEF62025}"/>
              </a:ext>
            </a:extLst>
          </p:cNvPr>
          <p:cNvSpPr txBox="1"/>
          <p:nvPr/>
        </p:nvSpPr>
        <p:spPr>
          <a:xfrm>
            <a:off x="6187822" y="1042803"/>
            <a:ext cx="1089167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300" b="1">
                <a:latin typeface="Malgun Gothic"/>
                <a:ea typeface="Malgun Gothic"/>
                <a:cs typeface="Calibri"/>
              </a:rPr>
              <a:t>선행 연구 2</a:t>
            </a:r>
            <a:endParaRPr lang="ko-KR" altLang="en-US" sz="1300" b="1" dirty="0">
              <a:latin typeface="Malgun Gothic"/>
              <a:ea typeface="Malgun Gothic"/>
              <a:cs typeface="+mn-lt"/>
            </a:endParaRPr>
          </a:p>
          <a:p>
            <a:pPr algn="ctr"/>
            <a:endParaRPr lang="en-US" altLang="ko-KR" sz="1300" dirty="0">
              <a:ea typeface="Calibri"/>
              <a:cs typeface="Calibri"/>
            </a:endParaRPr>
          </a:p>
          <a:p>
            <a:pPr algn="ctr"/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pPr algn="ctr"/>
            <a:endParaRPr lang="ko-KR" sz="1300" b="1" dirty="0">
              <a:latin typeface="Malgun Gothic"/>
              <a:ea typeface="Malgun Gothic"/>
              <a:cs typeface="Calibri"/>
            </a:endParaRPr>
          </a:p>
          <a:p>
            <a:pPr algn="ctr"/>
            <a:endParaRPr lang="ko-KR" altLang="en-US" sz="13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89327B-CAC6-BB9F-A795-5662F4728281}"/>
              </a:ext>
            </a:extLst>
          </p:cNvPr>
          <p:cNvSpPr txBox="1"/>
          <p:nvPr/>
        </p:nvSpPr>
        <p:spPr>
          <a:xfrm>
            <a:off x="4806043" y="1512528"/>
            <a:ext cx="3895780" cy="12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+mn-lt"/>
              </a:rPr>
              <a:t>AI가 정답이 있는 (수학 과학) 문제에 대한 답변을 진행</a:t>
            </a:r>
            <a:endParaRPr lang="ko-KR" altLang="en-US" sz="1300" b="1">
              <a:latin typeface="Malgun Gothic"/>
              <a:ea typeface="Malgun Gothic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+mn-lt"/>
              </a:rPr>
              <a:t>AI가 </a:t>
            </a:r>
            <a:r>
              <a:rPr lang="ko-KR" altLang="en-US" sz="1300" b="1">
                <a:latin typeface="Malgun Gothic"/>
                <a:ea typeface="Malgun Gothic"/>
                <a:cs typeface="Calibri"/>
              </a:rPr>
              <a:t>반박을 진행했을 때의 아첨 정도를 살펴봄​</a:t>
            </a: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6FEA5048-8C86-80C6-EC2F-BD14C9D6D930}"/>
              </a:ext>
            </a:extLst>
          </p:cNvPr>
          <p:cNvSpPr/>
          <p:nvPr/>
        </p:nvSpPr>
        <p:spPr>
          <a:xfrm>
            <a:off x="6513242" y="2573503"/>
            <a:ext cx="435022" cy="63973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4F680-1D52-DB0E-F83F-4FF9C70920DE}"/>
              </a:ext>
            </a:extLst>
          </p:cNvPr>
          <p:cNvSpPr txBox="1"/>
          <p:nvPr/>
        </p:nvSpPr>
        <p:spPr>
          <a:xfrm>
            <a:off x="4806043" y="3379689"/>
            <a:ext cx="3895780" cy="12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Calibri"/>
              </a:rPr>
              <a:t>AI에게 정답이 정해지지 않은 정책적 문제를 질문</a:t>
            </a:r>
            <a:endParaRPr lang="ko-KR" altLang="en-US" sz="1300" b="1" dirty="0">
              <a:latin typeface="Malgun Gothic"/>
              <a:ea typeface="Malgun Gothic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Malgun Gothic"/>
                <a:ea typeface="Malgun Gothic"/>
                <a:cs typeface="Calibri"/>
              </a:rPr>
              <a:t>AI의 어조가 달라졌을 때의 답변의 일관성을 측정함</a:t>
            </a:r>
            <a:endParaRPr lang="ko-KR" altLang="en-US" sz="13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553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및 향후 연구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834640" cy="338328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방법론적</a:t>
            </a:r>
            <a:r>
              <a:rPr 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한계</a:t>
            </a:r>
            <a:endParaRPr lang="en-US" sz="1300" dirty="0" err="1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VADER가 도덕적 맥락 텍스트에 최적화된 도구가 아님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1671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BERT·eMFD 교차 검증 시도했으나 도메인 불일치로 제외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82549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도덕적 딜레마 특화 감성 분석 도구의 부재를 실증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834640" cy="338328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일반화</a:t>
            </a:r>
            <a:r>
              <a:rPr 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한계</a:t>
            </a:r>
            <a:endParaRPr lang="en-US" sz="1300" dirty="0" err="1"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프롬프트만 사용 — 언어권별 편향 미확인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21671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상황으로 제한 — 더 다양한 도메인 필요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82549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 반복 — 통계적 유의성 주장에 한계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834640" cy="3383280"/>
          </a:xfrm>
          <a:prstGeom prst="rect">
            <a:avLst/>
          </a:prstGeom>
          <a:solidFill>
            <a:srgbClr val="F4F7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향후</a:t>
            </a:r>
            <a:r>
              <a:rPr lang="en-US" sz="1300" b="1" dirty="0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Arial"/>
                <a:ea typeface="Arial" pitchFamily="34" charset="-122"/>
                <a:cs typeface="Arial"/>
              </a:rPr>
              <a:t>연구</a:t>
            </a:r>
            <a:endParaRPr lang="en-US" sz="1300" dirty="0" err="1">
              <a:latin typeface="Arial"/>
              <a:cs typeface="Arial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51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4893" y="1697402"/>
            <a:ext cx="26517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05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한국어</a:t>
            </a:r>
            <a:r>
              <a:rPr lang="en-US" sz="105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프롬프트</a:t>
            </a:r>
            <a:r>
              <a:rPr lang="en-US" sz="105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실험</a:t>
            </a:r>
            <a:r>
              <a:rPr lang="en-US" sz="105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— </a:t>
            </a:r>
            <a:r>
              <a:rPr lang="en-US" sz="105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언어권별</a:t>
            </a:r>
            <a:r>
              <a:rPr lang="en-US" sz="105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차이</a:t>
            </a:r>
            <a:r>
              <a:rPr lang="en-US" sz="1050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검증</a:t>
            </a:r>
            <a:endParaRPr lang="en-US" sz="1050" dirty="0" err="1">
              <a:latin typeface="Arial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282549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의료·법률 등 실제 고위험 도메인 적용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ko-KR" altLang="en-US" sz="24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출처</a:t>
            </a: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4BB53A-3DB4-FF1E-D771-7B5A93BC815D}"/>
              </a:ext>
            </a:extLst>
          </p:cNvPr>
          <p:cNvSpPr txBox="1"/>
          <p:nvPr/>
        </p:nvSpPr>
        <p:spPr>
          <a:xfrm>
            <a:off x="655396" y="890727"/>
            <a:ext cx="636791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선행연구 1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ko-KR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Krügel, S., Ostermaier, A. &amp; Uhl, M. ChatGPT’s inconsistent moral advice influences users’ judgment. </a:t>
            </a:r>
            <a:r>
              <a:rPr lang="ko-KR" i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Sci Rep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ko-KR" b="1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13</a:t>
            </a:r>
            <a:r>
              <a:rPr lang="ko-KR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, 4569 (2023). </a:t>
            </a:r>
            <a:r>
              <a:rPr lang="ko-KR" dirty="0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  <a:hlinkClick r:id="rId3"/>
              </a:rPr>
              <a:t>https://doi.org/10.1038/s41598-023-31341-0</a:t>
            </a:r>
            <a:endParaRPr lang="ko-KR" altLang="en-US">
              <a:ea typeface="맑은 고딕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627B77-3187-A993-373E-1CE449B13F24}"/>
              </a:ext>
            </a:extLst>
          </p:cNvPr>
          <p:cNvSpPr txBox="1"/>
          <p:nvPr/>
        </p:nvSpPr>
        <p:spPr>
          <a:xfrm>
            <a:off x="671053" y="2746143"/>
            <a:ext cx="63679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rgbClr val="222222"/>
                </a:solidFill>
                <a:highlight>
                  <a:srgbClr val="FFFFFF"/>
                </a:highlight>
                <a:ea typeface="+mn-lt"/>
                <a:cs typeface="+mn-lt"/>
              </a:rPr>
              <a:t>선행연구 2</a:t>
            </a:r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ea typeface="맑은 고딕"/>
              <a:cs typeface="Calibri"/>
            </a:endParaRPr>
          </a:p>
          <a:p>
            <a:endParaRPr lang="ko-KR" altLang="en-US" dirty="0">
              <a:solidFill>
                <a:srgbClr val="222222"/>
              </a:solidFill>
              <a:highlight>
                <a:srgbClr val="FFFFFF"/>
              </a:highlight>
              <a:ea typeface="맑은 고딕"/>
              <a:cs typeface="Calibri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111481B-11C4-B204-36F3-408AC8791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06452"/>
              </p:ext>
            </p:extLst>
          </p:nvPr>
        </p:nvGraphicFramePr>
        <p:xfrm>
          <a:off x="751562" y="3045389"/>
          <a:ext cx="3173105" cy="3667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73105">
                  <a:extLst>
                    <a:ext uri="{9D8B030D-6E8A-4147-A177-3AD203B41FA5}">
                      <a16:colId xmlns:a16="http://schemas.microsoft.com/office/drawing/2014/main" val="3107155727"/>
                    </a:ext>
                  </a:extLst>
                </a:gridCol>
              </a:tblGrid>
              <a:tr h="36678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Grande"/>
                          <a:hlinkClick r:id="rId4" invalidUrl="http://"/>
                        </a:rPr>
                      </a:br>
                      <a:r>
                        <a:rPr 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Grande"/>
                          <a:hlinkClick r:id="rId5"/>
                        </a:rPr>
                        <a:t>https://doi.org/10.48550/arXiv.2502.08177</a:t>
                      </a:r>
                      <a:endParaRPr lang="ko-KR" sz="900" b="0" i="0" dirty="0">
                        <a:solidFill>
                          <a:srgbClr val="000000"/>
                        </a:solidFill>
                        <a:effectLst/>
                        <a:latin typeface="Lucida Grande"/>
                      </a:endParaRPr>
                    </a:p>
                  </a:txBody>
                  <a:tcPr marR="6191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140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BF075-E2FB-E21D-D081-CBE1715C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20E849-4347-F2F1-ADEF-9907C94412F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3D1A9D-853F-F2E7-4B82-5ACBD1968846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726536-DDFA-8364-D7D2-8C2280A42748}"/>
              </a:ext>
            </a:extLst>
          </p:cNvPr>
          <p:cNvSpPr/>
          <p:nvPr/>
        </p:nvSpPr>
        <p:spPr>
          <a:xfrm>
            <a:off x="365760" y="1005840"/>
            <a:ext cx="4114800" cy="1508760"/>
          </a:xfrm>
          <a:prstGeom prst="rect">
            <a:avLst/>
          </a:prstGeom>
          <a:solidFill>
            <a:srgbClr val="243B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DDE0BF-0670-6AB4-90EB-81B458C628A0}"/>
              </a:ext>
            </a:extLst>
          </p:cNvPr>
          <p:cNvSpPr/>
          <p:nvPr/>
        </p:nvSpPr>
        <p:spPr>
          <a:xfrm>
            <a:off x="365760" y="1005840"/>
            <a:ext cx="50292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ABCCB1-BED9-81EC-28F0-525D31A9E5D6}"/>
              </a:ext>
            </a:extLst>
          </p:cNvPr>
          <p:cNvSpPr/>
          <p:nvPr/>
        </p:nvSpPr>
        <p:spPr>
          <a:xfrm>
            <a:off x="365760" y="100584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E5DCAA-3108-48C8-4808-9738702F6B7F}"/>
              </a:ext>
            </a:extLst>
          </p:cNvPr>
          <p:cNvSpPr/>
          <p:nvPr/>
        </p:nvSpPr>
        <p:spPr>
          <a:xfrm>
            <a:off x="960120" y="1143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수식어는 AI 판단에 영향을 준다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FA4826-695E-0B72-27DA-44A23FCAFDD5}"/>
              </a:ext>
            </a:extLst>
          </p:cNvPr>
          <p:cNvSpPr/>
          <p:nvPr/>
        </p:nvSpPr>
        <p:spPr>
          <a:xfrm>
            <a:off x="960120" y="1508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전반적으로 감성 구간에 따른 응답 차이가 나타났으나, 모델별로 반응 방식이 뚜렷하게 달랐다.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A5ED20-AC03-CB60-0184-369CAE40BBCF}"/>
              </a:ext>
            </a:extLst>
          </p:cNvPr>
          <p:cNvSpPr/>
          <p:nvPr/>
        </p:nvSpPr>
        <p:spPr>
          <a:xfrm>
            <a:off x="4846320" y="1005840"/>
            <a:ext cx="4114800" cy="1508760"/>
          </a:xfrm>
          <a:prstGeom prst="rect">
            <a:avLst/>
          </a:prstGeom>
          <a:solidFill>
            <a:srgbClr val="243B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4E9DF37-9A32-1D64-3BE4-A4357E9B01EE}"/>
              </a:ext>
            </a:extLst>
          </p:cNvPr>
          <p:cNvSpPr/>
          <p:nvPr/>
        </p:nvSpPr>
        <p:spPr>
          <a:xfrm>
            <a:off x="4846320" y="1005840"/>
            <a:ext cx="50292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E49084-86EA-9DC1-8AB9-3A5D4BBD93E2}"/>
              </a:ext>
            </a:extLst>
          </p:cNvPr>
          <p:cNvSpPr/>
          <p:nvPr/>
        </p:nvSpPr>
        <p:spPr>
          <a:xfrm>
            <a:off x="4846320" y="100584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836792-1991-0C9E-91FE-4B2C032FA7D9}"/>
              </a:ext>
            </a:extLst>
          </p:cNvPr>
          <p:cNvSpPr/>
          <p:nvPr/>
        </p:nvSpPr>
        <p:spPr>
          <a:xfrm>
            <a:off x="5440680" y="1143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특성이 프레임 효과를 압도한다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FD1ABA-24EE-D770-25AD-636DD7681E43}"/>
              </a:ext>
            </a:extLst>
          </p:cNvPr>
          <p:cNvSpPr/>
          <p:nvPr/>
        </p:nvSpPr>
        <p:spPr>
          <a:xfrm>
            <a:off x="5440680" y="1508760"/>
            <a:ext cx="34290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Gemini는 </a:t>
            </a:r>
            <a:r>
              <a:rPr lang="en-US" sz="1000" dirty="0" err="1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수식어를</a:t>
            </a:r>
            <a:r>
              <a:rPr 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충실히</a:t>
            </a:r>
            <a:r>
              <a:rPr 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000" dirty="0" err="1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따르고</a:t>
            </a:r>
            <a:r>
              <a:rPr 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, Claude는 </a:t>
            </a:r>
            <a:r>
              <a:rPr lang="en-US" sz="1000" dirty="0" err="1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저항하며</a:t>
            </a:r>
            <a:r>
              <a:rPr 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000" dirty="0" err="1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ChatGPT는</a:t>
            </a:r>
            <a:r>
              <a:rPr 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ko-KR" altLang="en-US" sz="1000" dirty="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모델 고유의 주제별 편향적인 학습 가능성을 보여주고 있다.</a:t>
            </a:r>
            <a:endParaRPr lang="en-US" sz="1000" dirty="0">
              <a:solidFill>
                <a:srgbClr val="CADCFC"/>
              </a:solidFill>
              <a:latin typeface="Arial"/>
              <a:cs typeface="Arial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B1FB5B-D25D-0033-EC9B-1A20459C31A0}"/>
              </a:ext>
            </a:extLst>
          </p:cNvPr>
          <p:cNvSpPr/>
          <p:nvPr/>
        </p:nvSpPr>
        <p:spPr>
          <a:xfrm>
            <a:off x="365760" y="2697480"/>
            <a:ext cx="4114800" cy="1508760"/>
          </a:xfrm>
          <a:prstGeom prst="rect">
            <a:avLst/>
          </a:prstGeom>
          <a:solidFill>
            <a:srgbClr val="243B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6166013-C3DF-6BA3-90B9-86600F7DFF45}"/>
              </a:ext>
            </a:extLst>
          </p:cNvPr>
          <p:cNvSpPr/>
          <p:nvPr/>
        </p:nvSpPr>
        <p:spPr>
          <a:xfrm>
            <a:off x="365760" y="2697480"/>
            <a:ext cx="50292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7FC216A-D6FB-DD26-ED79-BF4BA583A856}"/>
              </a:ext>
            </a:extLst>
          </p:cNvPr>
          <p:cNvSpPr/>
          <p:nvPr/>
        </p:nvSpPr>
        <p:spPr>
          <a:xfrm>
            <a:off x="365760" y="26974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4EE528-AEFF-4E67-E3C5-87B2D8120665}"/>
              </a:ext>
            </a:extLst>
          </p:cNvPr>
          <p:cNvSpPr/>
          <p:nvPr/>
        </p:nvSpPr>
        <p:spPr>
          <a:xfrm>
            <a:off x="960120" y="2834640"/>
            <a:ext cx="3429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일관된 이상치 = </a:t>
            </a:r>
            <a:r>
              <a:rPr lang="ko-KR" alt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모델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고유의 편향 </a:t>
            </a:r>
            <a:r>
              <a:rPr lang="ko-KR" alt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학습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가능성</a:t>
            </a:r>
            <a:endParaRPr lang="en-US" sz="1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208BA77-FBC2-D6DF-7D6B-88C98C29F760}"/>
              </a:ext>
            </a:extLst>
          </p:cNvPr>
          <p:cNvSpPr/>
          <p:nvPr/>
        </p:nvSpPr>
        <p:spPr>
          <a:xfrm>
            <a:off x="960120" y="32004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 반복에서 재현된 이상치(Central Model, Bus Lane 등)는 우연이 아닌 모델 고유 편향으로 해석된다.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C8DC185-53AB-E8E0-BD20-A3BFC0D064D1}"/>
              </a:ext>
            </a:extLst>
          </p:cNvPr>
          <p:cNvSpPr/>
          <p:nvPr/>
        </p:nvSpPr>
        <p:spPr>
          <a:xfrm>
            <a:off x="4846320" y="2697480"/>
            <a:ext cx="4114800" cy="1508760"/>
          </a:xfrm>
          <a:prstGeom prst="rect">
            <a:avLst/>
          </a:prstGeom>
          <a:solidFill>
            <a:srgbClr val="243B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3C86FDE-DE06-A9D0-840D-0A821F2AF227}"/>
              </a:ext>
            </a:extLst>
          </p:cNvPr>
          <p:cNvSpPr/>
          <p:nvPr/>
        </p:nvSpPr>
        <p:spPr>
          <a:xfrm>
            <a:off x="4846320" y="2697480"/>
            <a:ext cx="50292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61812C9-5A2D-6254-9AD5-72EC1DA7EBC1}"/>
              </a:ext>
            </a:extLst>
          </p:cNvPr>
          <p:cNvSpPr/>
          <p:nvPr/>
        </p:nvSpPr>
        <p:spPr>
          <a:xfrm>
            <a:off x="4846320" y="26974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D7E5CFE-A4E5-FE3B-6333-6D27C0F265C8}"/>
              </a:ext>
            </a:extLst>
          </p:cNvPr>
          <p:cNvSpPr/>
          <p:nvPr/>
        </p:nvSpPr>
        <p:spPr>
          <a:xfrm>
            <a:off x="5440680" y="28346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신뢰성 평가의 새로운 축 제시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0AB5E00-712A-A706-E78A-BAB216FECC5A}"/>
              </a:ext>
            </a:extLst>
          </p:cNvPr>
          <p:cNvSpPr/>
          <p:nvPr/>
        </p:nvSpPr>
        <p:spPr>
          <a:xfrm>
            <a:off x="5440680" y="32004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중심 평가를 넘어, 표현 변화에 대한 판단 일관성을 측정하는 새로운 평가 프레임워크를 제안한다.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2258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화면 슬라이드 쇼(16:9)</PresentationFormat>
  <Paragraphs>0</Paragraphs>
  <Slides>19</Slides>
  <Notes>15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감성 프레임 변화에 따른 생성형 AI의 도덕적 의사결정 일관성 비교 연구</dc:title>
  <dc:subject>PptxGenJS Presentation</dc:subject>
  <dc:creator>PptxGenJS</dc:creator>
  <cp:lastModifiedBy>PptxGenJS</cp:lastModifiedBy>
  <cp:revision>610</cp:revision>
  <dcterms:created xsi:type="dcterms:W3CDTF">2026-06-02T15:42:11Z</dcterms:created>
  <dcterms:modified xsi:type="dcterms:W3CDTF">2026-06-04T04:24:00Z</dcterms:modified>
</cp:coreProperties>
</file>